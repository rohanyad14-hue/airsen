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12192000" cy="6858000"/>
  <p:notesSz cx="6858000" cy="12192000"/>
  <p:embeddedFontLst>
    <p:embeddedFont>
      <p:font typeface="Inter" panose="020B0604020202020204" charset="0"/>
      <p:regular r:id="rId17"/>
    </p:embeddedFont>
    <p:embeddedFont>
      <p:font typeface="Inter Bold" panose="020B0604020202020204" charset="0"/>
      <p:regular r:id="rId18"/>
    </p:embeddedFont>
    <p:embeddedFont>
      <p:font typeface="Inter Semi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3C3C"/>
    <a:srgbClr val="040805"/>
    <a:srgbClr val="020C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0462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727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100" spc="7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M.TECH ARTIFICIAL INTELLIGENCE AND MACHINE LEARNING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9486"/>
            <a:ext cx="10972526" cy="1033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700" b="1" kern="100" spc="-11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TRAFFIC ACCIDENT ANALYSIS &amp; SEVERITY RISK MODELING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609585" y="2123042"/>
            <a:ext cx="10972526" cy="67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400" b="1" kern="100" spc="-72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An Exposure-Adjusted Visual Analytics Framework for Proactive Highway Safety &amp; Hazard Identification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09585" y="2948087"/>
            <a:ext cx="3620798" cy="38100"/>
          </a:xfrm>
          <a:prstGeom prst="roundRect">
            <a:avLst>
              <a:gd name="adj" fmla="val 49999"/>
            </a:avLst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3190339"/>
            <a:ext cx="1158211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kern="100" spc="-2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Fall Semester 2026 | Visual Analytics Lab 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585" y="3838436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100" spc="7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SUBMITTED BY: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585" y="4224139"/>
            <a:ext cx="10972526" cy="202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kern="100" spc="-2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Saranya Dalal [26MML0007]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kern="100" spc="-2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Divya Pujari [26MML0009]</a:t>
            </a:r>
            <a:endParaRPr lang="en-US" sz="1600" dirty="0"/>
          </a:p>
          <a:p>
            <a:pPr marL="0" indent="0" algn="l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600" kern="100" spc="-2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Rohan Yadav [26MML0020]</a:t>
            </a:r>
            <a:endParaRPr lang="en-US" sz="1600" dirty="0"/>
          </a:p>
          <a:p>
            <a:pPr marL="0" indent="0" algn="l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600" kern="100" spc="-2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Faculty Guide: 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kern="100" spc="-2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Dr. Manikandan K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kern="100" spc="-2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School of Computer Science and Engineering (SCOPE)</a:t>
            </a:r>
            <a:endParaRPr lang="en-US" sz="1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D4D2CC-C2BE-C501-5CCE-FE6EA406ACE8}"/>
              </a:ext>
            </a:extLst>
          </p:cNvPr>
          <p:cNvSpPr/>
          <p:nvPr/>
        </p:nvSpPr>
        <p:spPr>
          <a:xfrm>
            <a:off x="11025602" y="6554804"/>
            <a:ext cx="1113017" cy="231080"/>
          </a:xfrm>
          <a:prstGeom prst="rect">
            <a:avLst/>
          </a:prstGeom>
          <a:solidFill>
            <a:srgbClr val="020C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774101"/>
            <a:ext cx="6467710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kern="100" spc="-9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ABSTRACT — 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826121"/>
            <a:ext cx="6467710" cy="4277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Traffic accidents are influenced by interacting temporal, spatial, environmental and roadway factors.</a:t>
            </a:r>
            <a:endParaRPr lang="en-US" sz="1400" dirty="0"/>
          </a:p>
          <a:p>
            <a:pPr marL="0" indent="0" algn="l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Conventional safety analysis relies heavily on raw accident counts to identify dangerous road segments.</a:t>
            </a:r>
            <a:endParaRPr lang="en-US" sz="1400" dirty="0"/>
          </a:p>
          <a:p>
            <a:pPr marL="0" indent="0" algn="l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High-traffic roads may accumulate many minor crashes, while low-traffic roads may experience fewer but more severe accidents.</a:t>
            </a:r>
            <a:endParaRPr lang="en-US" sz="1400" dirty="0"/>
          </a:p>
          <a:p>
            <a:pPr marL="0" indent="0" algn="l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This creates a severity-frequency paradox, where crash frequency alone can misrepresent actual risk.</a:t>
            </a:r>
            <a:endParaRPr lang="en-US" sz="1400" dirty="0"/>
          </a:p>
          <a:p>
            <a:pPr marL="0" indent="0" algn="l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This project develops an exposure-adjusted visual analytics framework to identify high-risk road segments and support proactive highway safety interventions.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b="1" kern="10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Research Problem:</a:t>
            </a: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How can accident severity, traffic exposure, temporal patterns and environmental conditions be integrated to identify genuinely high-risk road segments?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1573" y="0"/>
            <a:ext cx="4200122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6466086"/>
            <a:ext cx="681913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29472"/>
            <a:ext cx="10972526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000" b="1" kern="100" spc="-15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OBJECTIVES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609585" y="1575891"/>
            <a:ext cx="311142" cy="311150"/>
          </a:xfrm>
          <a:prstGeom prst="ellipse">
            <a:avLst/>
          </a:prstGeom>
          <a:solidFill>
            <a:srgbClr val="4950BC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2389" y="1642566"/>
            <a:ext cx="79502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kern="100" spc="-28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1972767"/>
            <a:ext cx="533386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kern="100" spc="-6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Temporal Risk Analysis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2366466"/>
            <a:ext cx="53338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Identify dangerous hours, days and seasonal patterns associated with increased accident severity.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48244" y="1575891"/>
            <a:ext cx="322552" cy="322560"/>
          </a:xfrm>
          <a:prstGeom prst="ellipse">
            <a:avLst/>
          </a:prstGeom>
          <a:solidFill>
            <a:srgbClr val="4950BC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99042" y="1648222"/>
            <a:ext cx="83053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kern="100" spc="-28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48244" y="1984177"/>
            <a:ext cx="533386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kern="100" spc="-6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Spatial Hotspot Identification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248244" y="2377877"/>
            <a:ext cx="53338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Locate high-risk road segments using severity-weighted, exposure-adjusted risk measures.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585" y="3180259"/>
            <a:ext cx="324933" cy="324941"/>
          </a:xfrm>
          <a:prstGeom prst="ellipse">
            <a:avLst/>
          </a:prstGeom>
          <a:solidFill>
            <a:srgbClr val="4950BC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0383" y="3253780"/>
            <a:ext cx="83292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kern="100" spc="-28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585" y="3590925"/>
            <a:ext cx="533386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kern="100" spc="-6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Environmental Risk Assessment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09585" y="3984625"/>
            <a:ext cx="53338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Analyse the influence of weather, road surface conditions, visibility and roadway illumination.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48244" y="3180259"/>
            <a:ext cx="330192" cy="330200"/>
          </a:xfrm>
          <a:prstGeom prst="ellipse">
            <a:avLst/>
          </a:prstGeom>
          <a:solidFill>
            <a:srgbClr val="4950BC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9042" y="3256459"/>
            <a:ext cx="83817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kern="100" spc="-28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48244" y="3596184"/>
            <a:ext cx="533386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kern="100" spc="-6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Vulnerable Road User Analysis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48244" y="3989884"/>
            <a:ext cx="53338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Investigate severity differences across vehicle categories and speed-limit regimes.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9585" y="4792266"/>
            <a:ext cx="320667" cy="320675"/>
          </a:xfrm>
          <a:prstGeom prst="ellipse">
            <a:avLst/>
          </a:prstGeom>
          <a:solidFill>
            <a:srgbClr val="4950BC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0383" y="4863703"/>
            <a:ext cx="82865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kern="100" spc="-28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9585" y="5198666"/>
            <a:ext cx="533386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kern="100" spc="-6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Predictive Modelling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09585" y="5592366"/>
            <a:ext cx="53338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Use Random Forest classification to identify important factors associated with severe crashes.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48244" y="4792266"/>
            <a:ext cx="325529" cy="325537"/>
          </a:xfrm>
          <a:prstGeom prst="ellipse">
            <a:avLst/>
          </a:prstGeom>
          <a:solidFill>
            <a:srgbClr val="4950BC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99042" y="4866084"/>
            <a:ext cx="83351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kern="100" spc="-28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48244" y="5203528"/>
            <a:ext cx="533386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kern="100" spc="-6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Interactive Visual Analytics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248244" y="5597227"/>
            <a:ext cx="53338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Develop a dashboard for exploring crash patterns, high-risk locations and potential safety interventions.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508789" y="6466086"/>
            <a:ext cx="68290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3</a:t>
            </a:r>
            <a:endParaRPr lang="en-US" sz="10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7AC1ED8-B28F-16FA-B148-B4AE9CE6A123}"/>
              </a:ext>
            </a:extLst>
          </p:cNvPr>
          <p:cNvSpPr/>
          <p:nvPr/>
        </p:nvSpPr>
        <p:spPr>
          <a:xfrm>
            <a:off x="11040177" y="6466087"/>
            <a:ext cx="1151518" cy="391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248169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kern="100" spc="-9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LITERATURE REVIEW — KEY FINDINGS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865908"/>
            <a:ext cx="533386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kern="100" spc="-6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Traditional Crash Hotspot Models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09585" y="2259608"/>
            <a:ext cx="533386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Identify dangerous locations using crash frequency and historical accident patterns. May overlook low-frequency locations with severe outcomes.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3177580"/>
            <a:ext cx="533386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kern="100" spc="-6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Exposure-Based Risk Modelling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3571280"/>
            <a:ext cx="533386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Normalises crash outcomes using traffic volume and roadway exposure. Supports fairer comparisons between roads carrying different traffic volumes.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585" y="4489252"/>
            <a:ext cx="533386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kern="100" spc="-6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Machine Learning for Road Safety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09585" y="4882952"/>
            <a:ext cx="533386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Random Forest, XGBoost, SVM and graph-based models support severity prediction and hotspot identification. Explainable AI methods help identify influential risk factors.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48244" y="1865908"/>
            <a:ext cx="533386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kern="100" spc="-6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Visual Analytics and Spatial Modelling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248244" y="2259608"/>
            <a:ext cx="533386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Integrate geographic, temporal and environmental information. Support interactive exploration and evidence-based decision-making.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48244" y="3110905"/>
            <a:ext cx="5333867" cy="1191022"/>
          </a:xfrm>
          <a:prstGeom prst="roundRect">
            <a:avLst>
              <a:gd name="adj" fmla="val 6270"/>
            </a:avLst>
          </a:prstGeom>
          <a:solidFill>
            <a:srgbClr val="FCF2B5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039" y="3361730"/>
            <a:ext cx="222244" cy="1778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826079" y="3333155"/>
            <a:ext cx="4578235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kern="100" spc="-2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Key Limitation:</a:t>
            </a:r>
            <a:r>
              <a:rPr lang="en-US" sz="1400" kern="100" spc="-28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Many conventional approaches do not jointly integrate severity weighting, roadway exposure and interactive visual analysis.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505218" y="6466086"/>
            <a:ext cx="686477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4</a:t>
            </a:r>
            <a:endParaRPr lang="en-US" sz="1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CC09CF-13D8-DBAF-DAA8-C954E0E42FD3}"/>
              </a:ext>
            </a:extLst>
          </p:cNvPr>
          <p:cNvSpPr/>
          <p:nvPr/>
        </p:nvSpPr>
        <p:spPr>
          <a:xfrm>
            <a:off x="11040177" y="6466087"/>
            <a:ext cx="1151518" cy="391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151926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kern="100" spc="-9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RESEARCH GAP — FRAMING OUR CONTRIBUTION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756966"/>
            <a:ext cx="5333867" cy="3968750"/>
          </a:xfrm>
          <a:prstGeom prst="roundRect">
            <a:avLst>
              <a:gd name="adj" fmla="val 1882"/>
            </a:avLst>
          </a:prstGeom>
          <a:solidFill>
            <a:srgbClr val="DADBF1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1998266"/>
            <a:ext cx="48766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kern="100" spc="-6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Frequency vs. Severity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38179" y="2391966"/>
            <a:ext cx="487667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Move beyond raw crash counts to identify locations where severe outcomes are disproportionately high.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38179" y="3061097"/>
            <a:ext cx="48766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kern="100" spc="-6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Exposure Normalisation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8179" y="3454797"/>
            <a:ext cx="487667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Account for traffic volume and road-segment length when comparing roadway risk.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38179" y="4123928"/>
            <a:ext cx="48766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kern="100" spc="-6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Integrated Risk Analysis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38179" y="4517628"/>
            <a:ext cx="487667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Combine temporal, spatial, environmental and vehicle-related factors in one analytical framework.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48244" y="1756966"/>
            <a:ext cx="5333867" cy="3968750"/>
          </a:xfrm>
          <a:prstGeom prst="roundRect">
            <a:avLst>
              <a:gd name="adj" fmla="val 1882"/>
            </a:avLst>
          </a:prstGeom>
          <a:solidFill>
            <a:srgbClr val="DADBF1"/>
          </a:solidFill>
          <a:ln/>
        </p:spPr>
      </p:sp>
      <p:sp>
        <p:nvSpPr>
          <p:cNvPr id="11" name="Text 9"/>
          <p:cNvSpPr/>
          <p:nvPr/>
        </p:nvSpPr>
        <p:spPr>
          <a:xfrm>
            <a:off x="6476838" y="1998266"/>
            <a:ext cx="48766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kern="100" spc="-6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Predictive Severity Attribution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76838" y="2391966"/>
            <a:ext cx="487667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Use machine learning to identify the factors most strongly associated with severe crashes.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76838" y="3061097"/>
            <a:ext cx="48766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kern="100" spc="-6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Actionable Safety Planning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76838" y="3454797"/>
            <a:ext cx="487667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Translate analytical findings into targeted engineering interventions and policy recommendations.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76838" y="4057253"/>
            <a:ext cx="4876678" cy="1439863"/>
          </a:xfrm>
          <a:prstGeom prst="roundRect">
            <a:avLst>
              <a:gd name="adj" fmla="val 5186"/>
            </a:avLst>
          </a:prstGeom>
          <a:solidFill>
            <a:srgbClr val="B6FCB8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634" y="4308078"/>
            <a:ext cx="222244" cy="1778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054674" y="4279503"/>
            <a:ext cx="4121047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kern="100" spc="-2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Primary Research Gap:</a:t>
            </a:r>
            <a:r>
              <a:rPr lang="en-US" sz="1400" kern="100" spc="-28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Lack of an integrated, severity-aware and exposure-adjusted visual analytics framework for proactive road safety prioritisation.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511766" y="6466086"/>
            <a:ext cx="67992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5</a:t>
            </a:r>
            <a:endParaRPr lang="en-US" sz="1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EF7B536-5FA0-F51B-C9CB-492922C8E673}"/>
              </a:ext>
            </a:extLst>
          </p:cNvPr>
          <p:cNvSpPr/>
          <p:nvPr/>
        </p:nvSpPr>
        <p:spPr>
          <a:xfrm>
            <a:off x="11049802" y="6466087"/>
            <a:ext cx="1151518" cy="391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560410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kern="100" spc="-9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PROPOSED SYSTEM DESIGN &amp;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2165449"/>
            <a:ext cx="79502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kern="100" spc="-28" dirty="0">
                <a:solidFill>
                  <a:srgbClr val="4950B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585" y="2414389"/>
            <a:ext cx="3505112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550295"/>
            <a:ext cx="350511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kern="100" spc="-5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Data Collection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585" y="2904530"/>
            <a:ext cx="3505112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UK STATS19 collision records; OpenStreetMap road-network data; Annual Average Daily Traffic (AADT); Open-Meteo historical weather observations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19489" y="2165449"/>
            <a:ext cx="83053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kern="100" spc="-28" dirty="0">
                <a:solidFill>
                  <a:srgbClr val="4950B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19489" y="2414389"/>
            <a:ext cx="3352716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4419489" y="2550295"/>
            <a:ext cx="3352716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kern="100" spc="-5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Data Preprocessing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419489" y="2904530"/>
            <a:ext cx="3352716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Handle missing values and duplicates; validate geographic coordinates; match crashes to road segments; integrate datasets using spatial and temporal attributes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76998" y="2165449"/>
            <a:ext cx="83292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kern="100" spc="-28" dirty="0">
                <a:solidFill>
                  <a:srgbClr val="4950B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03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76998" y="2414389"/>
            <a:ext cx="3505112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8076998" y="2550295"/>
            <a:ext cx="350511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kern="100" spc="-5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Feature Engineering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076998" y="2904530"/>
            <a:ext cx="3505112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Hour, day and month; weather and road conditions; vehicle category and crash severity; road geometry, speed limit and traffic exposure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9585" y="3991570"/>
            <a:ext cx="83817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kern="100" spc="-28" dirty="0">
                <a:solidFill>
                  <a:srgbClr val="4950B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9585" y="4240510"/>
            <a:ext cx="3505112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7" name="Text 15"/>
          <p:cNvSpPr/>
          <p:nvPr/>
        </p:nvSpPr>
        <p:spPr>
          <a:xfrm>
            <a:off x="609585" y="4376416"/>
            <a:ext cx="350511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kern="100" spc="-5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Analytical Modelling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09585" y="4730651"/>
            <a:ext cx="3505112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Exploratory data analysis; severity-weighted risk calculation; temporal and spatial hotspot analysis; Random Forest severity classification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19489" y="3991570"/>
            <a:ext cx="82865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kern="100" spc="-28" dirty="0">
                <a:solidFill>
                  <a:srgbClr val="4950B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05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419489" y="4240510"/>
            <a:ext cx="3352716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1" name="Text 19"/>
          <p:cNvSpPr/>
          <p:nvPr/>
        </p:nvSpPr>
        <p:spPr>
          <a:xfrm>
            <a:off x="4419489" y="4376416"/>
            <a:ext cx="3352716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kern="100" spc="-5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Visual Analytics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419489" y="4730651"/>
            <a:ext cx="3352716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Geographic hotspot maps; temporal heatmaps; environmental risk comparisons; interactive roadway risk classification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76998" y="3991570"/>
            <a:ext cx="83351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kern="100" spc="-28" dirty="0">
                <a:solidFill>
                  <a:srgbClr val="4950B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06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076998" y="4240510"/>
            <a:ext cx="3505112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5" name="Text 23"/>
          <p:cNvSpPr/>
          <p:nvPr/>
        </p:nvSpPr>
        <p:spPr>
          <a:xfrm>
            <a:off x="8076998" y="4376416"/>
            <a:ext cx="350511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kern="100" spc="-5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Decision Support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076998" y="4730651"/>
            <a:ext cx="3505112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Identify priority road segments; compare safety interventions; support data-driven infrastructure planning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508492" y="6466086"/>
            <a:ext cx="683203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6</a:t>
            </a:r>
            <a:endParaRPr lang="en-US" sz="10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B923062-F2BA-749F-4D87-6964BB5AE2D7}"/>
              </a:ext>
            </a:extLst>
          </p:cNvPr>
          <p:cNvSpPr/>
          <p:nvPr/>
        </p:nvSpPr>
        <p:spPr>
          <a:xfrm>
            <a:off x="11040177" y="6466087"/>
            <a:ext cx="1151518" cy="391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9341"/>
            <a:ext cx="10469697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kern="100" spc="-9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DATA INGESTION — MULTIPLE DATA SOURCES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234380"/>
          <a:ext cx="10469698" cy="1582698"/>
        </p:xfrm>
        <a:graphic>
          <a:graphicData uri="http://schemas.openxmlformats.org/drawingml/2006/table">
            <a:tbl>
              <a:tblPr/>
              <a:tblGrid>
                <a:gridCol w="2303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kern="100" spc="-28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UK STATS19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kern="100" spc="-28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— Collision records and severity — Accident analysis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kern="100" spc="-28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OpenStreetMap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kern="100" spc="-28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— Road geometry, road class and segment attributes — Spatial mapping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kern="100" spc="-28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AADT data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kern="100" spc="-28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— Average daily traffic volume — Exposure estimation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kern="100" spc="-28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Open-Meteo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kern="100" spc="-28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— Historical weather observations — Environmental risk analysis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09585" y="2975868"/>
            <a:ext cx="1107928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kern="10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Dataset Overview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09585" y="3383459"/>
            <a:ext cx="10469697" cy="1128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22,000 UK STATS19 collision records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160 roadway segments in the benchmark network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Crash-level data integrated with roadway, traffic and weather attributes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Road-segment-level aggregation used for exposure-adjusted risk analysis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09585" y="4670921"/>
            <a:ext cx="10469697" cy="1154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kern="10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Geographic Strategy</a:t>
            </a: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UK network used for the principal analysis because collision and traffic-exposure data can be integrated. Bengaluru arterial corridors used as an emerging-market transferability case study.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b="1" kern="10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Key Engineering Challenge:</a:t>
            </a: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Integrating datasets with different spatial and temporal resolutions into a consistent analytical framework.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515238" y="6466086"/>
            <a:ext cx="676457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7</a:t>
            </a:r>
            <a:endParaRPr lang="en-US" sz="1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C4E7A3-E065-F281-4641-8E1ABD400740}"/>
              </a:ext>
            </a:extLst>
          </p:cNvPr>
          <p:cNvSpPr/>
          <p:nvPr/>
        </p:nvSpPr>
        <p:spPr>
          <a:xfrm>
            <a:off x="11040177" y="6466087"/>
            <a:ext cx="1151518" cy="391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77065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kern="100" spc="-9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METHODOLOGY — WHERE EXPOSURE ENTERS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82105"/>
            <a:ext cx="79502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kern="100" spc="-28" dirty="0">
                <a:solidFill>
                  <a:srgbClr val="4950B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585" y="1531045"/>
            <a:ext cx="5333867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1666950"/>
            <a:ext cx="533386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kern="100" spc="-5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Annual Roadway Exposure</a:t>
            </a:r>
            <a:endParaRPr lang="en-US" sz="1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998960"/>
            <a:ext cx="5333867" cy="54500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585" y="2648744"/>
            <a:ext cx="5333867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AADT: Annual Average Daily Traffic</a:t>
            </a:r>
            <a:endParaRPr lang="en-US" sz="11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1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Segment length: Road length in kilometres</a:t>
            </a:r>
            <a:endParaRPr lang="en-US" sz="11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1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Exposure measured in Million Vehicle-Kilometres (MVKM)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248244" y="1282105"/>
            <a:ext cx="83053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kern="100" spc="-28" dirty="0">
                <a:solidFill>
                  <a:srgbClr val="4950B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02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48244" y="1531045"/>
            <a:ext cx="5333867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7"/>
          <p:cNvSpPr/>
          <p:nvPr/>
        </p:nvSpPr>
        <p:spPr>
          <a:xfrm>
            <a:off x="6248244" y="1666950"/>
            <a:ext cx="533386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kern="100" spc="-5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Severity-Weighted Crash Score</a:t>
            </a:r>
            <a:endParaRPr lang="en-US" sz="17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244" y="1998960"/>
            <a:ext cx="5333867" cy="5806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48244" y="2684363"/>
            <a:ext cx="5333867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Severity weights are based on published UK Department for Transport injury-cost ratios.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09585" y="3540224"/>
            <a:ext cx="83292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kern="100" spc="-28" dirty="0">
                <a:solidFill>
                  <a:srgbClr val="4950B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03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09585" y="3789164"/>
            <a:ext cx="5333867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5" name="Text 11"/>
          <p:cNvSpPr/>
          <p:nvPr/>
        </p:nvSpPr>
        <p:spPr>
          <a:xfrm>
            <a:off x="609585" y="3925070"/>
            <a:ext cx="533386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kern="100" spc="-5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Exposure-Adjusted Risk Index</a:t>
            </a:r>
            <a:endParaRPr lang="en-US" sz="17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4257080"/>
            <a:ext cx="5333867" cy="5423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9585" y="4904184"/>
            <a:ext cx="5333867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Represents severity-weighted crash outcomes relative to roadway exposure.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248244" y="3540224"/>
            <a:ext cx="83817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kern="100" spc="-28" dirty="0">
                <a:solidFill>
                  <a:srgbClr val="4950B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04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248244" y="3789164"/>
            <a:ext cx="5333867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0" name="Text 15"/>
          <p:cNvSpPr/>
          <p:nvPr/>
        </p:nvSpPr>
        <p:spPr>
          <a:xfrm>
            <a:off x="6248244" y="3925070"/>
            <a:ext cx="533386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kern="100" spc="-5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Statistical Suppression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6248244" y="4279305"/>
            <a:ext cx="5333867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Apply minimum crash-count and exposure thresholds. Withhold unstable estimates where very low exposure could produce misleadingly large risk values.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09585" y="5258495"/>
            <a:ext cx="10972526" cy="942181"/>
          </a:xfrm>
          <a:prstGeom prst="roundRect">
            <a:avLst>
              <a:gd name="adj" fmla="val 7926"/>
            </a:avLst>
          </a:prstGeom>
          <a:solidFill>
            <a:srgbClr val="DADBF1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380" y="5509320"/>
            <a:ext cx="222244" cy="1778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87420" y="5480745"/>
            <a:ext cx="1021689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kern="100" spc="-2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Key Principle:</a:t>
            </a:r>
            <a:r>
              <a:rPr lang="en-US" sz="1400" kern="100" spc="-28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Compare roads using both the severity of crashes and the amount of traffic exposure, rather than relying on accident counts alone.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11508690" y="6466086"/>
            <a:ext cx="68300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8</a:t>
            </a:r>
            <a:endParaRPr lang="en-US" sz="10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8F0D72-585D-4E68-D80F-68A4D82DFF0D}"/>
              </a:ext>
            </a:extLst>
          </p:cNvPr>
          <p:cNvSpPr/>
          <p:nvPr/>
        </p:nvSpPr>
        <p:spPr>
          <a:xfrm>
            <a:off x="11040177" y="6466087"/>
            <a:ext cx="1151518" cy="391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9341"/>
            <a:ext cx="10972526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kern="100" spc="-9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RESULTS — ONE-EIGHTH THE CRASHES, OVER TWELVE TIMES THE RISK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681361"/>
            <a:ext cx="5333867" cy="2298601"/>
          </a:xfrm>
          <a:prstGeom prst="roundRect">
            <a:avLst>
              <a:gd name="adj" fmla="val 3249"/>
            </a:avLst>
          </a:prstGeom>
          <a:solidFill>
            <a:srgbClr val="DADBF1"/>
          </a:solidFill>
          <a:ln/>
        </p:spPr>
      </p:sp>
      <p:sp>
        <p:nvSpPr>
          <p:cNvPr id="4" name="Shape 2"/>
          <p:cNvSpPr/>
          <p:nvPr/>
        </p:nvSpPr>
        <p:spPr>
          <a:xfrm>
            <a:off x="888978" y="1833761"/>
            <a:ext cx="2288026" cy="270173"/>
          </a:xfrm>
          <a:prstGeom prst="roundRect">
            <a:avLst>
              <a:gd name="adj" fmla="val 22112"/>
            </a:avLst>
          </a:prstGeom>
          <a:solidFill>
            <a:srgbClr val="DADBF1"/>
          </a:solidFill>
          <a:ln/>
        </p:spPr>
      </p:sp>
      <p:sp>
        <p:nvSpPr>
          <p:cNvPr id="5" name="Text 3"/>
          <p:cNvSpPr/>
          <p:nvPr/>
        </p:nvSpPr>
        <p:spPr>
          <a:xfrm>
            <a:off x="995635" y="1890809"/>
            <a:ext cx="2684296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M25 INTERCHANGE (SEG-0417)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88978" y="2189659"/>
            <a:ext cx="4775081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kern="100" spc="-6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M25 Interchange (SEG-0417)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88978" y="2583359"/>
            <a:ext cx="4775081" cy="124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Number of crashes: 47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Annual exposure: 27.1 MVKM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Severity-weighted score: 186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Risk index per MVKM: 6.86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Risk ranking: #152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48244" y="1681361"/>
            <a:ext cx="5333867" cy="2298601"/>
          </a:xfrm>
          <a:prstGeom prst="roundRect">
            <a:avLst>
              <a:gd name="adj" fmla="val 3249"/>
            </a:avLst>
          </a:prstGeom>
          <a:solidFill>
            <a:srgbClr val="DADBF1"/>
          </a:solidFill>
          <a:ln/>
        </p:spPr>
      </p:sp>
      <p:sp>
        <p:nvSpPr>
          <p:cNvPr id="9" name="Shape 7"/>
          <p:cNvSpPr/>
          <p:nvPr/>
        </p:nvSpPr>
        <p:spPr>
          <a:xfrm>
            <a:off x="6527637" y="1833761"/>
            <a:ext cx="3062806" cy="270173"/>
          </a:xfrm>
          <a:prstGeom prst="roundRect">
            <a:avLst>
              <a:gd name="adj" fmla="val 22112"/>
            </a:avLst>
          </a:prstGeom>
          <a:solidFill>
            <a:srgbClr val="DADBF1"/>
          </a:solidFill>
          <a:ln/>
        </p:spPr>
      </p:sp>
      <p:sp>
        <p:nvSpPr>
          <p:cNvPr id="10" name="Text 8"/>
          <p:cNvSpPr/>
          <p:nvPr/>
        </p:nvSpPr>
        <p:spPr>
          <a:xfrm>
            <a:off x="6634294" y="1890809"/>
            <a:ext cx="3459076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B4009 CHILTERN RIDGE CURVE (SEG-1902)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27637" y="2189659"/>
            <a:ext cx="4775081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kern="100" spc="-6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B4009 Chiltern Ridge Curve (SEG-1902)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27637" y="2583359"/>
            <a:ext cx="4775081" cy="124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Number of crashes: 6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Annual exposure: 2.5 MVKM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Severity-weighted score: 213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Risk index per MVKM: 84.40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Risk ranking: #2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585" y="4138712"/>
            <a:ext cx="5333867" cy="1039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The M25 interchange records substantially more crashes but has much greater traffic exposure.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The B4009 curve records only six crashes but has a substantially higher exposure-adjusted risk index.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48244" y="4138712"/>
            <a:ext cx="5333867" cy="1039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Exposure adjustment changes the prioritisation of road segments.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Raw crash counts alone may direct resources away from low-volume, high-severity locations.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9585" y="5337274"/>
            <a:ext cx="10972526" cy="942181"/>
          </a:xfrm>
          <a:prstGeom prst="roundRect">
            <a:avLst>
              <a:gd name="adj" fmla="val 7926"/>
            </a:avLst>
          </a:prstGeom>
          <a:solidFill>
            <a:srgbClr val="FCF2B5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380" y="5588099"/>
            <a:ext cx="222244" cy="1778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87420" y="5559524"/>
            <a:ext cx="1021689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kern="100" spc="-2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Central Insight:</a:t>
            </a:r>
            <a:r>
              <a:rPr lang="en-US" sz="1400" kern="100" spc="-28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A road with fewer crashes can represent a much greater safety risk once severity and traffic exposure are considered.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508492" y="6466086"/>
            <a:ext cx="683203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9</a:t>
            </a:r>
            <a:endParaRPr lang="en-US" sz="1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2831DF-7654-272E-EBAF-935933D4F9F3}"/>
              </a:ext>
            </a:extLst>
          </p:cNvPr>
          <p:cNvSpPr/>
          <p:nvPr/>
        </p:nvSpPr>
        <p:spPr>
          <a:xfrm>
            <a:off x="11040177" y="6466087"/>
            <a:ext cx="1151518" cy="391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8338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983383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228594" y="248341"/>
            <a:ext cx="1173450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kern="100" spc="-9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TEMPORAL &amp; ENVIRONMENTAL RISK DYNAMICS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228594" y="2224683"/>
            <a:ext cx="370830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kern="100" spc="-6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Temporal Patterns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28594" y="2618383"/>
            <a:ext cx="3708307" cy="183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Fatality rates peak at </a:t>
            </a:r>
            <a:r>
              <a:rPr lang="en-US" sz="1400" b="1" kern="10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6.82% during 02:00–05:00</a:t>
            </a: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Friday and Saturday late-night periods show elevated severity.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Reduced traffic volume during the early morning does not necessarily imply reduced risk.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241694" y="2224683"/>
            <a:ext cx="370830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kern="100" spc="-6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Weather-Related Hazards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241694" y="2618383"/>
            <a:ext cx="3708307" cy="1581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Adverse weather can reduce visibility and road-surface friction.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Fog and mist create additional stopping-distance and visibility challenges.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Compound hazards are associated with more severe crash outcomes.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54793" y="2224683"/>
            <a:ext cx="370830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kern="100" spc="-6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Darkness &amp; Road Illumination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254793" y="2618383"/>
            <a:ext cx="3708307" cy="1537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The report records a fatality rate of 10.93% under unlit darkness, compared with 3.36% in daylight.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Unlit rural roads warrant particular attention when combined with wet surfaces or adverse weather.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28594" y="4607917"/>
            <a:ext cx="11734506" cy="942181"/>
          </a:xfrm>
          <a:prstGeom prst="roundRect">
            <a:avLst>
              <a:gd name="adj" fmla="val 7926"/>
            </a:avLst>
          </a:prstGeom>
          <a:solidFill>
            <a:srgbClr val="DADBF1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390" y="4858742"/>
            <a:ext cx="222244" cy="1778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06430" y="4830167"/>
            <a:ext cx="1097887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kern="100" spc="-2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Implication:</a:t>
            </a:r>
            <a:r>
              <a:rPr lang="en-US" sz="1400" kern="100" spc="-28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Road safety interventions should account for the interaction of time, lighting, weather and roadway conditions, rather than treating these factors independently.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1460074" y="6466086"/>
            <a:ext cx="73162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10</a:t>
            </a:r>
            <a:endParaRPr lang="en-US" sz="1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827879-52A9-B098-A458-3E38ABB2ADF7}"/>
              </a:ext>
            </a:extLst>
          </p:cNvPr>
          <p:cNvSpPr/>
          <p:nvPr/>
        </p:nvSpPr>
        <p:spPr>
          <a:xfrm>
            <a:off x="11040177" y="6466087"/>
            <a:ext cx="1151518" cy="391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934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kern="100" spc="-9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PREDICTIVE MODELLING &amp; SAFETY INTERVENTIONS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34380"/>
            <a:ext cx="5257668" cy="1348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kern="10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Random Forest Classifier</a:t>
            </a: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Target: Severe crashes (fatal and serious) versus non-severe crashes. Overall accuracy: </a:t>
            </a:r>
            <a:r>
              <a:rPr lang="en-US" sz="1400" b="1" kern="10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87.12%</a:t>
            </a: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ROC-AUC: </a:t>
            </a:r>
            <a:r>
              <a:rPr lang="en-US" sz="1400" b="1" kern="10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0.884</a:t>
            </a: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Severe-class precision: 74.52% Severe-class recall: 72.80%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b="1" kern="10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Top Predictive Features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688134"/>
            <a:ext cx="4571886" cy="203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24442" y="1234380"/>
            <a:ext cx="5257668" cy="1597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kern="10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Bengaluru Transferability Case Study</a:t>
            </a: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Examines five arterial corridors under mixed-traffic conditions. Kanakapura Highway (NH-948) has a reported risk index of 56.82 per MVKM. The report highlights the vulnerability associated with a high two-wheeler modal share.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b="1" kern="10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Potential Safety Interventions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324442" y="2936974"/>
            <a:ext cx="5257668" cy="1377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Improve lighting on high-risk rural roads.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Reduce speeds at high-risk locations.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Introduce physically segregated lanes for vulnerable road users.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Improve road-surface friction and hazard warning systems.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487954" y="6466086"/>
            <a:ext cx="70374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11</a:t>
            </a:r>
            <a:endParaRPr lang="en-US" sz="1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066362-108C-4DEA-EA4E-355295F8D016}"/>
              </a:ext>
            </a:extLst>
          </p:cNvPr>
          <p:cNvSpPr/>
          <p:nvPr/>
        </p:nvSpPr>
        <p:spPr>
          <a:xfrm>
            <a:off x="11040177" y="6466087"/>
            <a:ext cx="1151518" cy="391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934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kern="100" spc="-96" dirty="0">
                <a:solidFill>
                  <a:srgbClr val="F2F2F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641971"/>
            <a:ext cx="5333867" cy="3974703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1870571"/>
            <a:ext cx="510527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kern="10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Key Conclusions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38179" y="2224187"/>
            <a:ext cx="4876678" cy="316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Raw crash counts alone can misrepresent roadway danger.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Exposure-adjusted severity analysis reveals high-risk locations that conventional hotspot methods may overlook.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Early-morning periods, unlit road conditions and compound environmental hazards are associated with elevated severity.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Vulnerable road users require targeted protection, particularly on high-speed and mixed-traffic corridors.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Random Forest modelling provides useful predictive insight into factors associated with severe crashes.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48244" y="1641971"/>
            <a:ext cx="5333867" cy="3974703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76838" y="1870571"/>
            <a:ext cx="510527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kern="10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Future Scope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76838" y="2224187"/>
            <a:ext cx="4876678" cy="1626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Incorporate real-time traffic and weather feeds.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Integrate vehicle telematics and near-miss data.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Validate the framework on larger, diverse regional datasets.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Develop proactive risk alerts for Intelligent Transportation Systems (ITS).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62654" y="6466086"/>
            <a:ext cx="72904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10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12</a:t>
            </a:r>
            <a:endParaRPr lang="en-US" sz="1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14FA5F-9A78-1821-FB1D-876967EA72F6}"/>
              </a:ext>
            </a:extLst>
          </p:cNvPr>
          <p:cNvSpPr/>
          <p:nvPr/>
        </p:nvSpPr>
        <p:spPr>
          <a:xfrm>
            <a:off x="11040177" y="6466087"/>
            <a:ext cx="1151518" cy="391914"/>
          </a:xfrm>
          <a:prstGeom prst="rect">
            <a:avLst/>
          </a:prstGeom>
          <a:solidFill>
            <a:srgbClr val="0408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816DD9-D66F-DD8E-B849-A9988E7B5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632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E892244-FB16-25EE-0F30-74885354373D}"/>
              </a:ext>
            </a:extLst>
          </p:cNvPr>
          <p:cNvSpPr/>
          <p:nvPr/>
        </p:nvSpPr>
        <p:spPr>
          <a:xfrm>
            <a:off x="11040177" y="6466087"/>
            <a:ext cx="1151518" cy="391914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A59841-C2C8-6B01-A933-AA36F8D2998E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50000"/>
              <a:alpha val="46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B1237B-C37C-CAFA-26DB-0C659DBC3055}"/>
              </a:ext>
            </a:extLst>
          </p:cNvPr>
          <p:cNvSpPr/>
          <p:nvPr/>
        </p:nvSpPr>
        <p:spPr>
          <a:xfrm>
            <a:off x="850256" y="2784455"/>
            <a:ext cx="338804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129385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1429</Words>
  <Application>Microsoft Office PowerPoint</Application>
  <PresentationFormat>Widescreen</PresentationFormat>
  <Paragraphs>188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Inter</vt:lpstr>
      <vt:lpstr>Inter SemiBold</vt:lpstr>
      <vt:lpstr>Arial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 pc</dc:creator>
  <cp:lastModifiedBy>Divya Pujari</cp:lastModifiedBy>
  <cp:revision>3</cp:revision>
  <dcterms:created xsi:type="dcterms:W3CDTF">2026-10-27T09:33:45Z</dcterms:created>
  <dcterms:modified xsi:type="dcterms:W3CDTF">2026-10-28T09:05:29Z</dcterms:modified>
</cp:coreProperties>
</file>